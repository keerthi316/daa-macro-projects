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topic: seven visual walkthroughs covering the main algorithm design paradigms from the DAA syllabus.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visualizer runs Bubble Sort on 30 elements: 124 comparisons and 42 swaps so far. The table at the bottom compares best, average and worst case plus space complexity.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Cost = 30 + 60 + 100 = 190. Equivalent view: sum of file size times depth in the merge tree (40x1 + 30x2 + 10x3 + 20x3 = 190).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matrices left to right, top to bottom. k=1 gives v0 to v2 = 5 and v3 to v2 = 3. k=2 gives v0 to v3 = 6 and v1 to v3 = 3. k=3 gives v2 to v1 = 2.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One-page summary: problem, safety conditions, backtracking idea, a position check example, the state space tree, solutions, steps and pseudocode.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Green nodes are safe placements, red nodes have a conflict, purple nodes are complete solutions. Only two of the leaf paths reach four queens.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Blue arrows include an item, red dashed arrows exclude it. The highlighted yellow node is the optimal solution.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Node labels are (level, city, cumulative cost, lower bound, total estimated cost). Green nodes lie on the optimal path, red nodes are pruned.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Wrap up: each problem maps to a design paradigm. Greedy and DP give exact polynomial algorithms here, while backtracking and branch and bound tame exponential search through pruning.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6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21440" y="6446520"/>
            <a:ext cx="754380" cy="2194560"/>
            <a:chOff x="0" y="0"/>
            <a:chExt cx="100584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6C4D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50140" y="4800600"/>
            <a:ext cx="754380" cy="3840480"/>
            <a:chOff x="0" y="0"/>
            <a:chExt cx="1005840" cy="5120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78840" y="5623560"/>
            <a:ext cx="754380" cy="3017520"/>
            <a:chOff x="0" y="0"/>
            <a:chExt cx="1005840" cy="4023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FB6A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07540" y="3429000"/>
            <a:ext cx="754380" cy="5212080"/>
            <a:chOff x="0" y="0"/>
            <a:chExt cx="1005840" cy="6949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E5486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36240" y="6995160"/>
            <a:ext cx="754380" cy="1645920"/>
            <a:chOff x="0" y="0"/>
            <a:chExt cx="100584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664940" y="4526280"/>
            <a:ext cx="754380" cy="4114800"/>
            <a:chOff x="0" y="0"/>
            <a:chExt cx="1005840" cy="548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3912" y="521676"/>
            <a:ext cx="13913628" cy="4404792"/>
            <a:chOff x="0" y="0"/>
            <a:chExt cx="18551504" cy="58730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551503" cy="5873055"/>
            </a:xfrm>
            <a:custGeom>
              <a:avLst/>
              <a:gdLst/>
              <a:ahLst/>
              <a:cxnLst/>
              <a:rect r="r" b="b" t="t" l="l"/>
              <a:pathLst>
                <a:path h="5873055" w="18551503">
                  <a:moveTo>
                    <a:pt x="0" y="0"/>
                  </a:moveTo>
                  <a:lnTo>
                    <a:pt x="18551503" y="0"/>
                  </a:lnTo>
                  <a:lnTo>
                    <a:pt x="18551503" y="5873055"/>
                  </a:lnTo>
                  <a:lnTo>
                    <a:pt x="0" y="5873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5" r="28036" b="183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8551504" cy="58825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and Analysis of Algorithms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38552" y="5086350"/>
            <a:ext cx="1001268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1EFFA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walkthroughs: sorting, greedy, dynamic programming, backtracking and branch and bound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Sorting Algorithm Visualizer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Sorting Algorithm Visualizer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sorting algorithms compared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Bubble, Selection and Insertion Sort are O(n²) on average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Merge and Quick Sort are O(n log n) on average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Colors show comparisons, swaps, the pivot and sorted elements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Live counters track comparisons, swaps and runtime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Optimal Merge Pattern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221992"/>
            <a:ext cx="11109960" cy="6665976"/>
            <a:chOff x="0" y="0"/>
            <a:chExt cx="14813280" cy="8887968"/>
          </a:xfrm>
        </p:grpSpPr>
        <p:sp>
          <p:nvSpPr>
            <p:cNvPr name="Freeform 8" id="8" descr="Optimal Merge Pattern diagram"/>
            <p:cNvSpPr/>
            <p:nvPr/>
          </p:nvSpPr>
          <p:spPr>
            <a:xfrm flipH="false" flipV="false" rot="0">
              <a:off x="0" y="0"/>
              <a:ext cx="14813280" cy="8887968"/>
            </a:xfrm>
            <a:custGeom>
              <a:avLst/>
              <a:gdLst/>
              <a:ahLst/>
              <a:cxnLst/>
              <a:rect r="r" b="b" t="t" l="l"/>
              <a:pathLst>
                <a:path h="8887968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8887968"/>
                  </a:lnTo>
                  <a:lnTo>
                    <a:pt x="0" y="888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minimum total merge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rule: always merge the two smallest files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Files 10, 20, 30, 40 merge as 30, then 60, then 100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Merging the largest files first would cost 260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A min-heap gives O(n log n)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Floyd-Warshall: All-Pairs Shortest Paths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2213334"/>
            <a:ext cx="11109960" cy="6683283"/>
            <a:chOff x="0" y="0"/>
            <a:chExt cx="14813280" cy="8911044"/>
          </a:xfrm>
        </p:grpSpPr>
        <p:sp>
          <p:nvSpPr>
            <p:cNvPr name="Freeform 8" id="8" descr="Floyd-Warshall: All-Pairs Shortest Paths diagram"/>
            <p:cNvSpPr/>
            <p:nvPr/>
          </p:nvSpPr>
          <p:spPr>
            <a:xfrm flipH="false" flipV="false" rot="0">
              <a:off x="0" y="0"/>
              <a:ext cx="14813280" cy="8911082"/>
            </a:xfrm>
            <a:custGeom>
              <a:avLst/>
              <a:gdLst/>
              <a:ahLst/>
              <a:cxnLst/>
              <a:rect r="r" b="b" t="t" l="l"/>
              <a:pathLst>
                <a:path h="8911082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8911082"/>
                  </a:lnTo>
                  <a:lnTo>
                    <a:pt x="0" y="8911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O(V³)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time, with O(V²) space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dist[i][j] = min(dist[i][j], dist[i][k] + dist[k][j])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Each step k allows vertex k as an intermediate stop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Here k = 0 changes nothing; k = 1, 2 and 3 each improve entries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Column v0 stays INF because no vertex can reach v0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N-Queens Problem: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N-Queens Problem: Overview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solutions for N =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No two queens may share a column or a diagonal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Place one queen per row and try each column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Skip unsafe squares; backtrack when a row has no safe square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Solutions: [2, 4, 1, 3] and [3, 1, 4, 2]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N-Queens: State Space Tree (N = 4)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30130" y="1645920"/>
            <a:ext cx="14223159" cy="7475220"/>
            <a:chOff x="0" y="0"/>
            <a:chExt cx="18964212" cy="9966960"/>
          </a:xfrm>
        </p:grpSpPr>
        <p:sp>
          <p:nvSpPr>
            <p:cNvPr name="Freeform 6" id="6" descr="State space tree for 4 queens"/>
            <p:cNvSpPr/>
            <p:nvPr/>
          </p:nvSpPr>
          <p:spPr>
            <a:xfrm flipH="false" flipV="false" rot="0">
              <a:off x="0" y="0"/>
              <a:ext cx="18964275" cy="9966960"/>
            </a:xfrm>
            <a:custGeom>
              <a:avLst/>
              <a:gdLst/>
              <a:ahLst/>
              <a:cxnLst/>
              <a:rect r="r" b="b" t="t" l="l"/>
              <a:pathLst>
                <a:path h="9966960" w="18964275">
                  <a:moveTo>
                    <a:pt x="0" y="0"/>
                  </a:moveTo>
                  <a:lnTo>
                    <a:pt x="18964275" y="0"/>
                  </a:lnTo>
                  <a:lnTo>
                    <a:pt x="18964275" y="9966960"/>
                  </a:lnTo>
                  <a:lnTo>
                    <a:pt x="0" y="9966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9258300"/>
            <a:ext cx="15773400" cy="548640"/>
            <a:chOff x="0" y="0"/>
            <a:chExt cx="21031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6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Solutions found: </a:t>
              </a:r>
              <a:r>
                <a:rPr lang="en-US" sz="2100">
                  <a:solidFill>
                    <a:srgbClr val="1B16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[2, 4, 1, 3] and [3, 1, 4, 2]. Red nodes are conflicts that get pruned.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0/1 Knapsack: Branch and Bound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0/1 Knapsack: Branch and Bound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profit, capacity W = 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Items sorted by profit/weight ratio; the bound estimates the best profit possible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Each node branches into include or exclude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Prune if infeasible or bound is no better than the best profit so far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Best choice: items 2 and 3 (weight 3 + 4 = 7, profit 50 + 65)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TSP: Branch and Bound Search Tree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714500"/>
            <a:ext cx="11384280" cy="7680960"/>
            <a:chOff x="0" y="0"/>
            <a:chExt cx="15179040" cy="10241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79041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0021824"/>
                  </a:lnTo>
                  <a:cubicBezTo>
                    <a:pt x="15179041" y="10142982"/>
                    <a:pt x="15080743" y="10241280"/>
                    <a:pt x="14959585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851660"/>
            <a:ext cx="11109960" cy="7406640"/>
            <a:chOff x="0" y="0"/>
            <a:chExt cx="14813280" cy="9875520"/>
          </a:xfrm>
        </p:grpSpPr>
        <p:sp>
          <p:nvSpPr>
            <p:cNvPr name="Freeform 8" id="8" descr="TSP: Branch and Bound Search Tree diagram"/>
            <p:cNvSpPr/>
            <p:nvPr/>
          </p:nvSpPr>
          <p:spPr>
            <a:xfrm flipH="false" flipV="false" rot="0">
              <a:off x="0" y="0"/>
              <a:ext cx="14813280" cy="9875520"/>
            </a:xfrm>
            <a:custGeom>
              <a:avLst/>
              <a:gdLst/>
              <a:ahLst/>
              <a:cxnLst/>
              <a:rect r="r" b="b" t="t" l="l"/>
              <a:pathLst>
                <a:path h="987552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481560" y="1714500"/>
            <a:ext cx="5116068" cy="7680960"/>
            <a:chOff x="0" y="0"/>
            <a:chExt cx="6821424" cy="10241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1425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682142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601968" y="0"/>
                  </a:lnTo>
                  <a:cubicBezTo>
                    <a:pt x="6723126" y="0"/>
                    <a:pt x="6821425" y="98298"/>
                    <a:pt x="6821425" y="219456"/>
                  </a:cubicBezTo>
                  <a:lnTo>
                    <a:pt x="6821425" y="10021824"/>
                  </a:lnTo>
                  <a:cubicBezTo>
                    <a:pt x="6821425" y="10142982"/>
                    <a:pt x="6723126" y="10241280"/>
                    <a:pt x="6601968" y="10241280"/>
                  </a:cubicBezTo>
                  <a:lnTo>
                    <a:pt x="219456" y="10241280"/>
                  </a:lnTo>
                  <a:cubicBezTo>
                    <a:pt x="98298" y="10241280"/>
                    <a:pt x="0" y="10142982"/>
                    <a:pt x="0" y="10021824"/>
                  </a:cubicBezTo>
                  <a:close/>
                </a:path>
              </a:pathLst>
            </a:custGeom>
            <a:solidFill>
              <a:srgbClr val="F1EF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1988820"/>
            <a:ext cx="4293108" cy="1097280"/>
            <a:chOff x="0" y="0"/>
            <a:chExt cx="5724144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41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5" r="0" b="-262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41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C4DE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3038475"/>
            <a:ext cx="429310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optimal tour cost, 4 cities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3040" y="3998595"/>
            <a:ext cx="4293108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Nodes are expanded best-first by lower bound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Prune a branch when its lower bound is at least the best known tour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Optimal tour: 0 → 1 → 3 → 2 → 0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B1646"/>
                </a:solidFill>
                <a:latin typeface="Calibri (MS)"/>
                <a:ea typeface="Calibri (MS)"/>
                <a:cs typeface="Calibri (MS)"/>
                <a:sym typeface="Calibri (MS)"/>
              </a:rPr>
              <a:t>Cost = 10 + 25 + 30 + 15 = 80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1097280"/>
            <a:chOff x="0" y="0"/>
            <a:chExt cx="22549104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1B164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Summary: Techniques at a Glance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85800" y="1920240"/>
          <a:ext cx="16897350" cy="6667500"/>
        </p:xfrm>
        <a:graphic>
          <a:graphicData uri="http://schemas.openxmlformats.org/drawingml/2006/table">
            <a:tbl>
              <a:tblPr/>
              <a:tblGrid>
                <a:gridCol w="4248159"/>
                <a:gridCol w="3703669"/>
                <a:gridCol w="5514099"/>
                <a:gridCol w="3431423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Problem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Technique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Core idea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complexity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6E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Sorting (Bubble to Quick)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Comparison-based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Compare and rearrange elements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 to O(n log n)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Optimal Merge Pattern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Greedy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Merge the two smallest files first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Floyd-Warshall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 programming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Try every vertex as an intermediate stop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O(V³)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N-Queens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Backtracking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Place row by row, undo on conflict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Exponential in 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0/1 Knapsack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Branch and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Prune with a profit upper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O(2ⁿ) worst case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164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Traveling Salesman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Branch and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Prune with a tour-cost lower bound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164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O(n!) worst case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A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6824960" y="9608820"/>
            <a:ext cx="681228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2D2A6E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DAHXTjfKehc</dc:identifier>
  <dcterms:modified xsi:type="dcterms:W3CDTF">2011-08-01T06:04:30Z</dcterms:modified>
  <cp:revision>1</cp:revision>
  <dc:title>DAA_Algorithm_Visuals.pptx</dc:title>
</cp:coreProperties>
</file>