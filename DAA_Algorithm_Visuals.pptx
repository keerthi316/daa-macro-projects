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90a59fa-02c8-dee2-4f27-b54690ab58bc}">
          <p14:sldIdLst>
            <p14:sldId id="256"/>
          </p14:sldIdLst>
        </p14:section>
        <p14:section name="Sorting" id="{8ec31484-5464-09b7-5219-ec610d89f6eb}">
          <p14:sldIdLst>
            <p14:sldId id="257"/>
          </p14:sldIdLst>
        </p14:section>
        <p14:section name="Greedy" id="{1eb5e4bb-cab5-d4f7-a405-bbfe4c151abb}">
          <p14:sldIdLst>
            <p14:sldId id="258"/>
          </p14:sldIdLst>
        </p14:section>
        <p14:section name="Dynamic Programming" id="{c84a23ca-d8e0-25fe-23e7-2883ad90ada1}">
          <p14:sldIdLst>
            <p14:sldId id="259"/>
          </p14:sldIdLst>
        </p14:section>
        <p14:section name="Backtracking" id="{a29bec85-74e4-7cbc-deb0-4e8a4b377927}">
          <p14:sldIdLst>
            <p14:sldId id="260"/>
            <p14:sldId id="261"/>
          </p14:sldIdLst>
        </p14:section>
        <p14:section name="Branch and Bound" id="{a47bee01-136a-d1e0-02ba-4eb62a3eee4b}">
          <p14:sldIdLst>
            <p14:sldId id="262"/>
            <p14:sldId id="263"/>
          </p14:sldIdLst>
        </p14:section>
        <p14:section name="Summary" id="{4bd60a35-629b-1a80-e8ca-9db4e203c839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topic: seven visual walkthroughs covering the main algorithm design paradigms from the DAA syllabus.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visualizer runs Bubble Sort on 30 elements: 124 comparisons and 42 swaps so far. The table at the bottom compares best, average and worst case plus space complexity.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 = 30 + 60 + 100 = 190. Equivalent view: sum of file size times depth in the merge tree (40x1 + 30x2 + 10x3 + 20x3 = 190).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matrices left to right, top to bottom. k=1 gives v0 to v2 = 5 and v3 to v2 = 3. k=2 gives v0 to v3 = 6 and v1 to v3 = 3. k=3 gives v2 to v1 =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One-page summary: problem, safety conditions, backtracking idea, a position check example, the state space tree, solutions, steps and pseudocode.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 nodes are safe placements, red nodes have a conflict, purple nodes are complete solutions. Only two of the leaf paths reach four queens.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arrows include an item, red dashed arrows exclude it. The highlighted yellow node is the optimal solution.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Node labels are (level, city, cumulative cost, lower bound, total estimated cost). Green nodes lie on the optimal path, red nodes are pruned.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 up: each problem maps to a design paradigm. Greedy and DP give exact polynomial algorithms here, while backtracking and branch and bound tame exponential search through pruning.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4297680"/>
            <a:ext cx="502920" cy="14630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8366760" y="3200400"/>
            <a:ext cx="502920" cy="256032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9052560" y="3749040"/>
            <a:ext cx="502920" cy="201168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" name="Shape 4"/>
          <p:cNvSpPr/>
          <p:nvPr/>
        </p:nvSpPr>
        <p:spPr>
          <a:xfrm>
            <a:off x="9738360" y="2286000"/>
            <a:ext cx="502920" cy="34747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0" y="4663440"/>
            <a:ext cx="502920" cy="109728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8" name="Shape 6"/>
          <p:cNvSpPr/>
          <p:nvPr/>
        </p:nvSpPr>
        <p:spPr>
          <a:xfrm>
            <a:off x="11109960" y="3017520"/>
            <a:ext cx="502920" cy="2743200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Text 7"/>
          <p:cNvSpPr/>
          <p:nvPr>
            <p:ph idx="107" type="title" hasCustomPrompt="1"/>
          </p:nvPr>
        </p:nvSpPr>
        <p:spPr>
          <a:xfrm>
            <a:off x="640080" y="1188720"/>
            <a:ext cx="667512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10" name="Text 7"/>
          <p:cNvSpPr/>
          <p:nvPr>
            <p:ph idx="108" type="body" hasCustomPrompt="1"/>
          </p:nvPr>
        </p:nvSpPr>
        <p:spPr>
          <a:xfrm>
            <a:off x="640080" y="3566160"/>
            <a:ext cx="66751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7"/>
          <p:cNvSpPr/>
          <p:nvPr>
            <p:ph idx="107" type="title" hasCustomPrompt="1"/>
          </p:nvPr>
        </p:nvSpPr>
        <p:spPr>
          <a:xfrm>
            <a:off x="640080" y="1188720"/>
            <a:ext cx="6675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Design and Analysis of Algorithms</a:t>
            </a:r>
            <a:endParaRPr lang="en-US" sz="4000" dirty="0"/>
          </a:p>
        </p:txBody>
      </p:sp>
      <p:sp>
        <p:nvSpPr>
          <p:cNvPr id="3" name="Text 7"/>
          <p:cNvSpPr/>
          <p:nvPr>
            <p:ph idx="108" type="body" hasCustomPrompt="1"/>
          </p:nvPr>
        </p:nvSpPr>
        <p:spPr>
          <a:xfrm>
            <a:off x="640080" y="356616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Visual walkthroughs: sorting, greedy, dynamic programming, backtracking and branch and bound</a:t>
            </a:r>
            <a:endParaRPr lang="en-US" sz="1800" dirty="0"/>
          </a:p>
        </p:txBody>
      </p:sp>
      <p:sp>
        <p:nvSpPr>
          <p:cNvPr id="4" name="Name"/>
          <p:cNvSpPr txBox="1"/>
          <p:nvPr/>
        </p:nvSpPr>
        <p:spPr>
          <a:xfrm>
            <a:off x="640080" y="4983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Ayushi Singh</a:t>
            </a:r>
            <a:endParaRPr lang="en-US" sz="2400" dirty="0"/>
          </a:p>
        </p:txBody>
      </p:sp>
      <p:sp>
        <p:nvSpPr>
          <p:cNvPr id="5" name="Roll number"/>
          <p:cNvSpPr txBox="1"/>
          <p:nvPr/>
        </p:nvSpPr>
        <p:spPr>
          <a:xfrm>
            <a:off x="640080" y="5440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Roll No. 24wh1a0554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Sorting Algorithm Visualizer</a:t>
            </a:r>
            <a:endParaRPr lang="en-US" sz="3400" dirty="0"/>
          </a:p>
        </p:txBody>
      </p:sp>
      <p:sp>
        <p:nvSpPr>
          <p:cNvPr id="3" name="Image card"/>
          <p:cNvSpPr/>
          <p:nvPr/>
        </p:nvSpPr>
        <p:spPr>
          <a:xfrm>
            <a:off x="457200" y="1143000"/>
            <a:ext cx="7589520" cy="5120640"/>
          </a:xfrm>
          <a:prstGeom prst="roundRect">
            <a:avLst>
              <a:gd name="adj" fmla="val 2143"/>
            </a:avLst>
          </a:prstGeom>
          <a:solidFill>
            <a:schemeClr val="bg2"/>
          </a:solidFill>
          <a:ln/>
        </p:spPr>
      </p:sp>
      <p:pic>
        <p:nvPicPr>
          <p:cNvPr id="4" name="Image 0" descr="Sorting Algorithm Visualizer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406640" cy="4937760"/>
          </a:xfrm>
          <a:prstGeom prst="rect">
            <a:avLst/>
          </a:prstGeom>
        </p:spPr>
      </p:pic>
      <p:sp>
        <p:nvSpPr>
          <p:cNvPr id="5" name="Key ideas panel"/>
          <p:cNvSpPr/>
          <p:nvPr/>
        </p:nvSpPr>
        <p:spPr>
          <a:xfrm>
            <a:off x="8321040" y="1143000"/>
            <a:ext cx="3410712" cy="5120640"/>
          </a:xfrm>
          <a:prstGeom prst="roundRect">
            <a:avLst>
              <a:gd name="adj" fmla="val 3217"/>
            </a:avLst>
          </a:prstGeom>
          <a:solidFill>
            <a:schemeClr val="bg2"/>
          </a:solidFill>
          <a:ln/>
        </p:spPr>
      </p:sp>
      <p:sp>
        <p:nvSpPr>
          <p:cNvPr id="6" name="Stat"/>
          <p:cNvSpPr txBox="1"/>
          <p:nvPr/>
        </p:nvSpPr>
        <p:spPr>
          <a:xfrm>
            <a:off x="8595360" y="132588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7" name="Stat label"/>
          <p:cNvSpPr txBox="1"/>
          <p:nvPr/>
        </p:nvSpPr>
        <p:spPr>
          <a:xfrm>
            <a:off x="8595360" y="20574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sorting algorithms compared</a:t>
            </a:r>
            <a:endParaRPr lang="en-US" sz="1400" dirty="0"/>
          </a:p>
        </p:txBody>
      </p:sp>
      <p:sp>
        <p:nvSpPr>
          <p:cNvPr id="8" name="Key ideas"/>
          <p:cNvSpPr txBox="1"/>
          <p:nvPr/>
        </p:nvSpPr>
        <p:spPr>
          <a:xfrm>
            <a:off x="8595360" y="2697480"/>
            <a:ext cx="2862072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Bubble, Selection and Insertion Sort are O(n²) on average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Merge and Quick Sort are O(n log n) on average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Colors show comparisons, swaps, the pivot and sorted elements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Live counters track comparisons, swaps and runtime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Optimal Merge Pattern</a:t>
            </a:r>
            <a:endParaRPr lang="en-US" sz="3400" dirty="0"/>
          </a:p>
        </p:txBody>
      </p:sp>
      <p:sp>
        <p:nvSpPr>
          <p:cNvPr id="3" name="Image card"/>
          <p:cNvSpPr/>
          <p:nvPr/>
        </p:nvSpPr>
        <p:spPr>
          <a:xfrm>
            <a:off x="457200" y="1143000"/>
            <a:ext cx="7589520" cy="5120640"/>
          </a:xfrm>
          <a:prstGeom prst="roundRect">
            <a:avLst>
              <a:gd name="adj" fmla="val 2143"/>
            </a:avLst>
          </a:prstGeom>
          <a:solidFill>
            <a:schemeClr val="bg2"/>
          </a:solidFill>
          <a:ln/>
        </p:spPr>
      </p:sp>
      <p:pic>
        <p:nvPicPr>
          <p:cNvPr id="4" name="Image 0" descr="Optimal Merge Pattern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406640" cy="4443984"/>
          </a:xfrm>
          <a:prstGeom prst="rect">
            <a:avLst/>
          </a:prstGeom>
        </p:spPr>
      </p:pic>
      <p:sp>
        <p:nvSpPr>
          <p:cNvPr id="5" name="Key ideas panel"/>
          <p:cNvSpPr/>
          <p:nvPr/>
        </p:nvSpPr>
        <p:spPr>
          <a:xfrm>
            <a:off x="8321040" y="1143000"/>
            <a:ext cx="3410712" cy="5120640"/>
          </a:xfrm>
          <a:prstGeom prst="roundRect">
            <a:avLst>
              <a:gd name="adj" fmla="val 3217"/>
            </a:avLst>
          </a:prstGeom>
          <a:solidFill>
            <a:schemeClr val="bg2"/>
          </a:solidFill>
          <a:ln/>
        </p:spPr>
      </p:sp>
      <p:sp>
        <p:nvSpPr>
          <p:cNvPr id="6" name="Stat"/>
          <p:cNvSpPr txBox="1"/>
          <p:nvPr/>
        </p:nvSpPr>
        <p:spPr>
          <a:xfrm>
            <a:off x="8595360" y="132588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</a:t>
            </a:r>
            <a:endParaRPr lang="en-US" sz="4000" dirty="0"/>
          </a:p>
        </p:txBody>
      </p:sp>
      <p:sp>
        <p:nvSpPr>
          <p:cNvPr id="7" name="Stat label"/>
          <p:cNvSpPr txBox="1"/>
          <p:nvPr/>
        </p:nvSpPr>
        <p:spPr>
          <a:xfrm>
            <a:off x="8595360" y="20574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minimum total merge cost</a:t>
            </a:r>
            <a:endParaRPr lang="en-US" sz="1400" dirty="0"/>
          </a:p>
        </p:txBody>
      </p:sp>
      <p:sp>
        <p:nvSpPr>
          <p:cNvPr id="8" name="Key ideas"/>
          <p:cNvSpPr txBox="1"/>
          <p:nvPr/>
        </p:nvSpPr>
        <p:spPr>
          <a:xfrm>
            <a:off x="8595360" y="2697480"/>
            <a:ext cx="2862072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Greedy rule: always merge the two smallest files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Files 10, 20, 30, 40 merge as 30, then 60, then 100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Merging the largest files first would cost 260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min-heap gives O(n log n) time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Floyd-Warshall: All-Pairs Shortest Paths</a:t>
            </a:r>
            <a:endParaRPr lang="en-US" sz="3400" dirty="0"/>
          </a:p>
        </p:txBody>
      </p:sp>
      <p:sp>
        <p:nvSpPr>
          <p:cNvPr id="3" name="Image card"/>
          <p:cNvSpPr/>
          <p:nvPr/>
        </p:nvSpPr>
        <p:spPr>
          <a:xfrm>
            <a:off x="457200" y="1143000"/>
            <a:ext cx="7589520" cy="5120640"/>
          </a:xfrm>
          <a:prstGeom prst="roundRect">
            <a:avLst>
              <a:gd name="adj" fmla="val 2143"/>
            </a:avLst>
          </a:prstGeom>
          <a:solidFill>
            <a:schemeClr val="bg2"/>
          </a:solidFill>
          <a:ln/>
        </p:spPr>
      </p:sp>
      <p:pic>
        <p:nvPicPr>
          <p:cNvPr id="4" name="Image 0" descr="Floyd-Warshall: All-Pairs Shortest Paths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75558"/>
            <a:ext cx="7406640" cy="4455525"/>
          </a:xfrm>
          <a:prstGeom prst="rect">
            <a:avLst/>
          </a:prstGeom>
        </p:spPr>
      </p:pic>
      <p:sp>
        <p:nvSpPr>
          <p:cNvPr id="5" name="Key ideas panel"/>
          <p:cNvSpPr/>
          <p:nvPr/>
        </p:nvSpPr>
        <p:spPr>
          <a:xfrm>
            <a:off x="8321040" y="1143000"/>
            <a:ext cx="3410712" cy="5120640"/>
          </a:xfrm>
          <a:prstGeom prst="roundRect">
            <a:avLst>
              <a:gd name="adj" fmla="val 3217"/>
            </a:avLst>
          </a:prstGeom>
          <a:solidFill>
            <a:schemeClr val="bg2"/>
          </a:solidFill>
          <a:ln/>
        </p:spPr>
      </p:sp>
      <p:sp>
        <p:nvSpPr>
          <p:cNvPr id="6" name="Stat"/>
          <p:cNvSpPr txBox="1"/>
          <p:nvPr/>
        </p:nvSpPr>
        <p:spPr>
          <a:xfrm>
            <a:off x="8595360" y="132588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O(V³)</a:t>
            </a:r>
            <a:endParaRPr lang="en-US" sz="4000" dirty="0"/>
          </a:p>
        </p:txBody>
      </p:sp>
      <p:sp>
        <p:nvSpPr>
          <p:cNvPr id="7" name="Stat label"/>
          <p:cNvSpPr txBox="1"/>
          <p:nvPr/>
        </p:nvSpPr>
        <p:spPr>
          <a:xfrm>
            <a:off x="8595360" y="20574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time, with O(V²) space</a:t>
            </a:r>
            <a:endParaRPr lang="en-US" sz="1400" dirty="0"/>
          </a:p>
        </p:txBody>
      </p:sp>
      <p:sp>
        <p:nvSpPr>
          <p:cNvPr id="8" name="Key ideas"/>
          <p:cNvSpPr txBox="1"/>
          <p:nvPr/>
        </p:nvSpPr>
        <p:spPr>
          <a:xfrm>
            <a:off x="8595360" y="2697480"/>
            <a:ext cx="2862072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dist[i][j] = min(dist[i][j], dist[i][k] + dist[k][j])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Each step k allows vertex k as an intermediate stop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Here k = 0 changes nothing; k = 1, 2 and 3 each improve entries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Column v0 stays INF because no vertex can reach v0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N-Queens Problem: Overview</a:t>
            </a:r>
            <a:endParaRPr lang="en-US" sz="3400" dirty="0"/>
          </a:p>
        </p:txBody>
      </p:sp>
      <p:sp>
        <p:nvSpPr>
          <p:cNvPr id="3" name="Image card"/>
          <p:cNvSpPr/>
          <p:nvPr/>
        </p:nvSpPr>
        <p:spPr>
          <a:xfrm>
            <a:off x="457200" y="1143000"/>
            <a:ext cx="7589520" cy="5120640"/>
          </a:xfrm>
          <a:prstGeom prst="roundRect">
            <a:avLst>
              <a:gd name="adj" fmla="val 2143"/>
            </a:avLst>
          </a:prstGeom>
          <a:solidFill>
            <a:schemeClr val="bg2"/>
          </a:solidFill>
          <a:ln/>
        </p:spPr>
      </p:sp>
      <p:pic>
        <p:nvPicPr>
          <p:cNvPr id="4" name="Image 0" descr="N-Queens Problem: Overview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406640" cy="4937760"/>
          </a:xfrm>
          <a:prstGeom prst="rect">
            <a:avLst/>
          </a:prstGeom>
        </p:spPr>
      </p:pic>
      <p:sp>
        <p:nvSpPr>
          <p:cNvPr id="5" name="Key ideas panel"/>
          <p:cNvSpPr/>
          <p:nvPr/>
        </p:nvSpPr>
        <p:spPr>
          <a:xfrm>
            <a:off x="8321040" y="1143000"/>
            <a:ext cx="3410712" cy="5120640"/>
          </a:xfrm>
          <a:prstGeom prst="roundRect">
            <a:avLst>
              <a:gd name="adj" fmla="val 3217"/>
            </a:avLst>
          </a:prstGeom>
          <a:solidFill>
            <a:schemeClr val="bg2"/>
          </a:solidFill>
          <a:ln/>
        </p:spPr>
      </p:sp>
      <p:sp>
        <p:nvSpPr>
          <p:cNvPr id="6" name="Stat"/>
          <p:cNvSpPr txBox="1"/>
          <p:nvPr/>
        </p:nvSpPr>
        <p:spPr>
          <a:xfrm>
            <a:off x="8595360" y="132588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7" name="Stat label"/>
          <p:cNvSpPr txBox="1"/>
          <p:nvPr/>
        </p:nvSpPr>
        <p:spPr>
          <a:xfrm>
            <a:off x="8595360" y="20574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solutions for N = 4</a:t>
            </a:r>
            <a:endParaRPr lang="en-US" sz="1400" dirty="0"/>
          </a:p>
        </p:txBody>
      </p:sp>
      <p:sp>
        <p:nvSpPr>
          <p:cNvPr id="8" name="Key ideas"/>
          <p:cNvSpPr txBox="1"/>
          <p:nvPr/>
        </p:nvSpPr>
        <p:spPr>
          <a:xfrm>
            <a:off x="8595360" y="2697480"/>
            <a:ext cx="2862072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two queens may share a column or a diagonal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Place one queen per row and try each column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Skip unsafe squares; backtrack when a row has no safe square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Solutions: [2, 4, 1, 3] and [3, 1, 4, 2]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N-Queens: State Space Tree (N = 4)</a:t>
            </a:r>
            <a:endParaRPr lang="en-US" sz="3400" dirty="0"/>
          </a:p>
        </p:txBody>
      </p:sp>
      <p:pic>
        <p:nvPicPr>
          <p:cNvPr id="3" name="Image 0" descr="State space tree for 4 qu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3422" y="1097280"/>
            <a:ext cx="9482108" cy="498348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457200" y="6172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Solutions found: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[2, 4, 1, 3] and [3, 1, 4, 2]. Red nodes are conflicts that get pruned.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0/1 Knapsack: Branch and Bound</a:t>
            </a:r>
            <a:endParaRPr lang="en-US" sz="3400" dirty="0"/>
          </a:p>
        </p:txBody>
      </p:sp>
      <p:sp>
        <p:nvSpPr>
          <p:cNvPr id="3" name="Image card"/>
          <p:cNvSpPr/>
          <p:nvPr/>
        </p:nvSpPr>
        <p:spPr>
          <a:xfrm>
            <a:off x="457200" y="1143000"/>
            <a:ext cx="7589520" cy="5120640"/>
          </a:xfrm>
          <a:prstGeom prst="roundRect">
            <a:avLst>
              <a:gd name="adj" fmla="val 2143"/>
            </a:avLst>
          </a:prstGeom>
          <a:solidFill>
            <a:schemeClr val="bg2"/>
          </a:solidFill>
          <a:ln/>
        </p:spPr>
      </p:sp>
      <p:pic>
        <p:nvPicPr>
          <p:cNvPr id="4" name="Image 0" descr="0/1 Knapsack: Branch and Bound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406640" cy="4937760"/>
          </a:xfrm>
          <a:prstGeom prst="rect">
            <a:avLst/>
          </a:prstGeom>
        </p:spPr>
      </p:pic>
      <p:sp>
        <p:nvSpPr>
          <p:cNvPr id="5" name="Key ideas panel"/>
          <p:cNvSpPr/>
          <p:nvPr/>
        </p:nvSpPr>
        <p:spPr>
          <a:xfrm>
            <a:off x="8321040" y="1143000"/>
            <a:ext cx="3410712" cy="5120640"/>
          </a:xfrm>
          <a:prstGeom prst="roundRect">
            <a:avLst>
              <a:gd name="adj" fmla="val 3217"/>
            </a:avLst>
          </a:prstGeom>
          <a:solidFill>
            <a:schemeClr val="bg2"/>
          </a:solidFill>
          <a:ln/>
        </p:spPr>
      </p:sp>
      <p:sp>
        <p:nvSpPr>
          <p:cNvPr id="6" name="Stat"/>
          <p:cNvSpPr txBox="1"/>
          <p:nvPr/>
        </p:nvSpPr>
        <p:spPr>
          <a:xfrm>
            <a:off x="8595360" y="132588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4000" dirty="0"/>
          </a:p>
        </p:txBody>
      </p:sp>
      <p:sp>
        <p:nvSpPr>
          <p:cNvPr id="7" name="Stat label"/>
          <p:cNvSpPr txBox="1"/>
          <p:nvPr/>
        </p:nvSpPr>
        <p:spPr>
          <a:xfrm>
            <a:off x="8595360" y="20574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maximum profit, capacity W = 7</a:t>
            </a:r>
            <a:endParaRPr lang="en-US" sz="1400" dirty="0"/>
          </a:p>
        </p:txBody>
      </p:sp>
      <p:sp>
        <p:nvSpPr>
          <p:cNvPr id="8" name="Key ideas"/>
          <p:cNvSpPr txBox="1"/>
          <p:nvPr/>
        </p:nvSpPr>
        <p:spPr>
          <a:xfrm>
            <a:off x="8595360" y="2697480"/>
            <a:ext cx="2862072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Items sorted by profit/weight ratio; the bound estimates the best profit possible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Each node branches into include or exclude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Prune if infeasible or bound is no better than the best profit so far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Best choice: items 2 and 3 (weight 3 + 4 = 7, profit 50 + 65)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TSP: Branch and Bound Search Tree</a:t>
            </a:r>
            <a:endParaRPr lang="en-US" sz="3400" dirty="0"/>
          </a:p>
        </p:txBody>
      </p:sp>
      <p:sp>
        <p:nvSpPr>
          <p:cNvPr id="3" name="Image card"/>
          <p:cNvSpPr/>
          <p:nvPr/>
        </p:nvSpPr>
        <p:spPr>
          <a:xfrm>
            <a:off x="457200" y="1143000"/>
            <a:ext cx="7589520" cy="5120640"/>
          </a:xfrm>
          <a:prstGeom prst="roundRect">
            <a:avLst>
              <a:gd name="adj" fmla="val 2143"/>
            </a:avLst>
          </a:prstGeom>
          <a:solidFill>
            <a:schemeClr val="bg2"/>
          </a:solidFill>
          <a:ln/>
        </p:spPr>
      </p:sp>
      <p:pic>
        <p:nvPicPr>
          <p:cNvPr id="4" name="Image 0" descr="TSP: Branch and Bound Search Tree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406640" cy="4937760"/>
          </a:xfrm>
          <a:prstGeom prst="rect">
            <a:avLst/>
          </a:prstGeom>
        </p:spPr>
      </p:pic>
      <p:sp>
        <p:nvSpPr>
          <p:cNvPr id="5" name="Key ideas panel"/>
          <p:cNvSpPr/>
          <p:nvPr/>
        </p:nvSpPr>
        <p:spPr>
          <a:xfrm>
            <a:off x="8321040" y="1143000"/>
            <a:ext cx="3410712" cy="5120640"/>
          </a:xfrm>
          <a:prstGeom prst="roundRect">
            <a:avLst>
              <a:gd name="adj" fmla="val 3217"/>
            </a:avLst>
          </a:prstGeom>
          <a:solidFill>
            <a:schemeClr val="bg2"/>
          </a:solidFill>
          <a:ln/>
        </p:spPr>
      </p:sp>
      <p:sp>
        <p:nvSpPr>
          <p:cNvPr id="6" name="Stat"/>
          <p:cNvSpPr txBox="1"/>
          <p:nvPr/>
        </p:nvSpPr>
        <p:spPr>
          <a:xfrm>
            <a:off x="8595360" y="132588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4000" dirty="0"/>
          </a:p>
        </p:txBody>
      </p:sp>
      <p:sp>
        <p:nvSpPr>
          <p:cNvPr id="7" name="Stat label"/>
          <p:cNvSpPr txBox="1"/>
          <p:nvPr/>
        </p:nvSpPr>
        <p:spPr>
          <a:xfrm>
            <a:off x="8595360" y="20574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optimal tour cost, 4 cities</a:t>
            </a:r>
            <a:endParaRPr lang="en-US" sz="1400" dirty="0"/>
          </a:p>
        </p:txBody>
      </p:sp>
      <p:sp>
        <p:nvSpPr>
          <p:cNvPr id="8" name="Key ideas"/>
          <p:cNvSpPr txBox="1"/>
          <p:nvPr/>
        </p:nvSpPr>
        <p:spPr>
          <a:xfrm>
            <a:off x="8595360" y="2697480"/>
            <a:ext cx="2862072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Nodes are expanded best-first by lower bound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Prune a branch when its lower bound is at least the best known tour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Optimal tour: 0 → 1 → 3 → 2 →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Cost = 10 + 25 + 30 + 15 = 80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Summary: Techniques at a Glance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468880"/>
                <a:gridCol w="3685032"/>
                <a:gridCol w="22860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Problem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Technique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Core idea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Time complexity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A6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646"/>
                          </a:solidFill>
                        </a:rPr>
                        <a:t>Sorting (Bubble to Quick)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Comparison-based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Compare and rearrange elements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O(n²) to O(n log n)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646"/>
                          </a:solidFill>
                        </a:rPr>
                        <a:t>Optimal Merge Pattern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Greedy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Merge the two smallest files first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O(n log n)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646"/>
                          </a:solidFill>
                        </a:rPr>
                        <a:t>Floyd-Warshall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Dynamic programming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Try every vertex as an intermediate stop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O(V³)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646"/>
                          </a:solidFill>
                        </a:rPr>
                        <a:t>N-Queens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Backtracking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Place row by row, undo on conflict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Exponential in N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646"/>
                          </a:solidFill>
                        </a:rPr>
                        <a:t>0/1 Knapsack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Branch and bound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Prune with a profit upper bound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O(2ⁿ) worst case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646"/>
                          </a:solidFill>
                        </a:rPr>
                        <a:t>Traveling Salesman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Branch and bound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Prune with a tour-cost lower bound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646"/>
                          </a:solidFill>
                        </a:rPr>
                        <a:t>O(n!) worst case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A Visuals">
  <a:themeElements>
    <a:clrScheme name="DAA Visuals">
      <a:dk1>
        <a:srgbClr val="1B1646"/>
      </a:dk1>
      <a:lt1>
        <a:srgbClr val="FFFFFF"/>
      </a:lt1>
      <a:dk2>
        <a:srgbClr val="2D2A6E"/>
      </a:dk2>
      <a:lt2>
        <a:srgbClr val="F1EFFA"/>
      </a:lt2>
      <a:accent1>
        <a:srgbClr val="6C4DE6"/>
      </a:accent1>
      <a:accent2>
        <a:srgbClr val="F5A623"/>
      </a:accent2>
      <a:accent3>
        <a:srgbClr val="1FB6A6"/>
      </a:accent3>
      <a:accent4>
        <a:srgbClr val="E5486A"/>
      </a:accent4>
      <a:accent5>
        <a:srgbClr val="3B82F6"/>
      </a:accent5>
      <a:accent6>
        <a:srgbClr val="22C55E"/>
      </a:accent6>
      <a:hlink>
        <a:srgbClr val="6C4DE6"/>
      </a:hlink>
      <a:folHlink>
        <a:srgbClr val="2D2A6E"/>
      </a:folHlink>
    </a:clrScheme>
    <a:fontScheme name="DAA Visual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and Analysis of Algorithms - Visual Study Notes</dc:title>
  <dc:subject>PptxGenJS Presentation</dc:subject>
  <dc:creator>Ayushi Singh</dc:creator>
  <cp:lastModifiedBy>Ayushi Singh</cp:lastModifiedBy>
  <cp:revision>1</cp:revision>
  <dcterms:created xsi:type="dcterms:W3CDTF">2026-10-07T05:52:01Z</dcterms:created>
  <dcterms:modified xsi:type="dcterms:W3CDTF">2026-10-07T05:52:01Z</dcterms:modified>
</cp:coreProperties>
</file>